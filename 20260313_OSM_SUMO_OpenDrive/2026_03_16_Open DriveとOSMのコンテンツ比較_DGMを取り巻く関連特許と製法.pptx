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256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48927-08E6-45FD-BE81-AF92C892DAD5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A67EE-5B55-41CE-BE87-A6E74BA67E2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465-032F-1D4E-A86F-56CAA084038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A67EE-5B55-41CE-BE87-A6E74BA67E21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7125269" y="1463849"/>
            <a:ext cx="2706371" cy="3476011"/>
            <a:chOff x="6231890" y="1610995"/>
            <a:chExt cx="2706370" cy="347601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1890" y="1610995"/>
              <a:ext cx="2706370" cy="303149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/>
          </p:nvSpPr>
          <p:spPr>
            <a:xfrm>
              <a:off x="6695086" y="4845269"/>
              <a:ext cx="1923396" cy="241736"/>
            </a:xfrm>
            <a:prstGeom prst="ellipse">
              <a:avLst/>
            </a:prstGeom>
            <a:gradFill flip="none" rotWithShape="1">
              <a:gsLst>
                <a:gs pos="100000">
                  <a:srgbClr val="ADCFEC">
                    <a:alpha val="0"/>
                  </a:srgbClr>
                </a:gs>
                <a:gs pos="21000">
                  <a:srgbClr val="ADCDEA"/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文本框 15"/>
          <p:cNvSpPr txBox="1"/>
          <p:nvPr userDrawn="1"/>
        </p:nvSpPr>
        <p:spPr>
          <a:xfrm>
            <a:off x="957121" y="1563372"/>
            <a:ext cx="5643705" cy="2400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5000" dirty="0">
                <a:gradFill>
                  <a:gsLst>
                    <a:gs pos="0">
                      <a:srgbClr val="A2D1F3"/>
                    </a:gs>
                    <a:gs pos="100000">
                      <a:srgbClr val="E3F0FD">
                        <a:alpha val="53000"/>
                      </a:srgbClr>
                    </a:gs>
                  </a:gsLst>
                  <a:lin ang="5400000" scaled="1"/>
                </a:gradFill>
                <a:latin typeface="HarmonyOS Sans SC Medium" panose="00000600000000000000" pitchFamily="2" charset="-122"/>
                <a:ea typeface="HarmonyOS Sans SC Medium" panose="00000600000000000000" pitchFamily="2" charset="-122"/>
                <a:sym typeface="+mn-ea"/>
              </a:rPr>
              <a:t>2026 </a:t>
            </a:r>
            <a:endParaRPr lang="en-US" altLang="zh-CN" sz="15000" dirty="0">
              <a:gradFill>
                <a:gsLst>
                  <a:gs pos="0">
                    <a:srgbClr val="A2D1F3"/>
                  </a:gs>
                  <a:gs pos="100000">
                    <a:srgbClr val="E3F0FD">
                      <a:alpha val="53000"/>
                    </a:srgbClr>
                  </a:gs>
                </a:gsLst>
                <a:lin ang="5400000" scaled="1"/>
              </a:gradFill>
              <a:latin typeface="HarmonyOS Sans SC Medium" panose="00000600000000000000" pitchFamily="2" charset="-122"/>
              <a:ea typeface="HarmonyOS Sans SC Medium" panose="00000600000000000000" pitchFamily="2" charset="-122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08701" y="598993"/>
            <a:ext cx="1186536" cy="4687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823402" y="-1428149"/>
            <a:ext cx="357790" cy="3002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/>
              <a:t>，</a:t>
            </a:r>
            <a:endParaRPr lang="zh-CN" altLang="en-US" sz="1400" kern="1200">
              <a:solidFill>
                <a:schemeClr val="tx1"/>
              </a:solidFill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7D9A9-79C9-417C-80E2-3AF0A1D023C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E99B2-6B34-4B4D-AF21-93EDB62D3A7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patents.google.com/patent/US9170116B1/en" TargetMode="External"/><Relationship Id="rId4" Type="http://schemas.openxmlformats.org/officeDocument/2006/relationships/hyperlink" Target="https://patents.google.com/patent/CN110633342B/en" TargetMode="External"/><Relationship Id="rId3" Type="http://schemas.openxmlformats.org/officeDocument/2006/relationships/hyperlink" Target="https://patents.google.com/patent/US20200265245A1/en" TargetMode="External"/><Relationship Id="rId2" Type="http://schemas.openxmlformats.org/officeDocument/2006/relationships/hyperlink" Target="https://patents.justia.com/patent/11808581" TargetMode="External"/><Relationship Id="rId1" Type="http://schemas.openxmlformats.org/officeDocument/2006/relationships/hyperlink" Target="https://patents.google.com/patent/US9384394B2/en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patents.google.com/patent/US11654918B2/en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5207" y="4093029"/>
            <a:ext cx="115403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 Drive</a:t>
            </a:r>
            <a:r>
              <a:rPr lang="ja-JP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</a:t>
            </a:r>
            <a:r>
              <a:rPr lang="en-US" altLang="ja-JP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のコンテンツ比較</a:t>
            </a:r>
            <a:endParaRPr lang="en-US" altLang="ja-JP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algn="ctr"/>
            <a:r>
              <a:rPr lang="en-US" altLang="ja-JP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DGM</a:t>
            </a:r>
            <a:r>
              <a:rPr lang="ja-JP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を取り巻く関連特許と製法</a:t>
            </a:r>
            <a:endParaRPr lang="ja-JP" alt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0668475" y="6291832"/>
            <a:ext cx="143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2026/3/16</a:t>
            </a:r>
            <a:endParaRPr kumimoji="1" lang="ja-JP" altLang="en-US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807028" y="97972"/>
            <a:ext cx="7467044" cy="5232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8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 Drive vs OpenStreetMap </a:t>
            </a:r>
            <a:r>
              <a:rPr lang="ja-JP" altLang="en-US" sz="28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のコンテンツ比較</a:t>
            </a:r>
            <a:endParaRPr lang="ja-JP" altLang="ja-JP" sz="28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93914" y="827706"/>
            <a:ext cx="19335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コンテンツ要素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6" name="表 5"/>
          <p:cNvGraphicFramePr>
            <a:graphicFrameLocks noGrp="1"/>
          </p:cNvGraphicFramePr>
          <p:nvPr/>
        </p:nvGraphicFramePr>
        <p:xfrm>
          <a:off x="2705099" y="918942"/>
          <a:ext cx="6781801" cy="2880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7772"/>
                <a:gridCol w="1883229"/>
                <a:gridCol w="2590800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車線幅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3.20-3.75m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3.75m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車線マーキング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詳細あり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基本あり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速度情報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あり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あり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rule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属性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あり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surface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あり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342899" y="3799302"/>
            <a:ext cx="11506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車線幅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は各車線で幅を独立設定可能（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3.20-3.75m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）、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は通常デフォルト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3.75m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車線マーキング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は詳細なマーキングタイプ（実線、破線、二重線など）をサポート、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は基本的マーキングのみ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速度情報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：両方サポート、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は車線レベルで細分化、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は通常道路単位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rule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属性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は詳細な通行規則属性あり、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は欠如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surface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要素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は路面素材を詳細記録、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は情報が限定的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61257" y="19633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道路幾何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2396490" y="196334"/>
          <a:ext cx="8151767" cy="3360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99510"/>
                <a:gridCol w="1926771"/>
                <a:gridCol w="2525486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Reference line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曲率（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line/arc/clothoid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）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道路長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標高（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elevation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）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横断勾配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横断形状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0" y="3997634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Reference line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（参照線）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：各道路に明確な参照線があり、幾何記述の基礎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：参照線の概念なし、ノードと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way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で経路記述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58846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 startAt="2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曲率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3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種類の正確な幾何タイプをサポート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Line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：直線セグメント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Arc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：円弧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Clothoid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（クロソイド）：曲率が線形に変化する遷移曲線、滑らかな接続用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：直線セグメントのみで曲線を近似、精度が低い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道路長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：各道路セグメントの長さを正確に計算・保存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：長さはノード座標から導出、直接保存しない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標高（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elevation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3D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標高情報をサポート、上り下りを記述可能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：高度情報は欠如または外部データソースが必要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横断勾配（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superelevation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：道路の横断勾配、カントを記録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：この種の情報は含まれない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横断形状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：道路横断面を詳細記述（路肩、側溝など）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：基本的に記述しない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74172" y="120134"/>
            <a:ext cx="15440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レーン構造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119743" y="581799"/>
          <a:ext cx="11952514" cy="3360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1457"/>
                <a:gridCol w="5823857"/>
                <a:gridCol w="42672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レーン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システム一意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way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と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relation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で間接表現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レーン幅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正確な数値、可変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lanes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と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width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タグで推定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レーンタイプ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詳細分類</a:t>
                      </a:r>
                      <a:r>
                        <a:rPr lang="en-US" alt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driving, sidewalk, shoulder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等</a:t>
                      </a:r>
                      <a:r>
                        <a:rPr lang="en-US" alt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部分サポート（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lanes:psv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等）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レーン接続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明確な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predecessor/successor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関係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turn:lanes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等タグ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速度制限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正確な数値、レーンレベル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maxspeed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タグ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アクセス制限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詳細ルール（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vehicle, pedestrian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等）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access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タグ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0" y="4131163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ID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は各レーンに一意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ID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を割り当て、正確な参照が可能；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は道路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way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とレーン関係で間接表現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レーン幅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は道路に沿って変化するレーン幅をサポート；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は通常全体的道路幅のみ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レーンタイプ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10+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種類のレーンタイプをサポート；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はタイプが限定的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97971" y="163677"/>
            <a:ext cx="11079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区画線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487136" y="712427"/>
          <a:ext cx="10888435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5106"/>
                <a:gridCol w="5553415"/>
                <a:gridCol w="2579914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実線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破線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詳細タイプ（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solid, broken, double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等）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部分サポート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色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幅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車線変更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色と幅をサポート、車線変更ルール明確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パターン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複合線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複雑なパターンサポート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97970" y="3001922"/>
            <a:ext cx="120940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の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&lt;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roadMark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&gt;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要素は以下をサポート：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タイプ：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solid, broken,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solid_solid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,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solid_broken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,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broken_solid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,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broken_broken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色：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standard, blue, green, red, white, yellow, orange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幅：正確な数値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車線変更ルール：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explicit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マーク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は主に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turn:lanes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等のタグで間接表現、詳細な幾何・視覚情報が欠如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85057" y="141905"/>
            <a:ext cx="21916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交通標識・信号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680901" y="753541"/>
          <a:ext cx="11010356" cy="3360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6213"/>
                <a:gridCol w="4654187"/>
                <a:gridCol w="3999956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信号機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詳細（位置、タイプ、フェーズ）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highway=traffic_signals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停止標識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highway=stop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制限速度標識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正確な数値と位置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maxspeed + traffic_sign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進入禁止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access=no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車線別制限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詳細なレーンレベル制限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限定サポート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警告標識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部分サポート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0" y="4180344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信号機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&lt;signal&gt;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要素は位置、タイプ、コントローラー、フェーズ等の完全情報を含む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：位置を簡単マーク、フェーズとコントローラー情報なし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車線別制限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：各レーンに独立制限を設定可能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：主に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lanes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turn:lanes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で間接表現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08858" y="141906"/>
            <a:ext cx="22765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道路オブジェクト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108857" y="698024"/>
          <a:ext cx="11299371" cy="3840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1420"/>
                <a:gridCol w="4421494"/>
                <a:gridCol w="3766457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停止線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正確な幾何位置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横断歩道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詳細な幾何とタイプ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highway=crossing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路面ペイント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ガードレール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ポール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サポート（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guardRail, pole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等）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路肩縁石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建物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駐車スペース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amenity=parking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バリア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トンネル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詳細タイプ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barrier, tunnel, bridge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0" y="468264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の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&lt;object&gt;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要素は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30+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種類の道路オブジェクトタイプをサポート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は主に機能的マークに焦点、正確な幾何記述が欠如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15685" y="141905"/>
            <a:ext cx="17235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交差点構造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634638" y="698569"/>
          <a:ext cx="10515600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4363"/>
                <a:gridCol w="4245428"/>
                <a:gridCol w="3475809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接続道路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明確な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junction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定義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way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で接続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turning relation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詳細な転回パス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turn:lanes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タグ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lane connection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正確なレーンレベル接続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限定サポート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0" y="3015780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junction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：交差点タイプを明確定義（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default, direct, common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）、全接続関係を含む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：ノードで接続、明確な交差点構造定義なし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connection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&lt;junction&gt;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内で各レーンの接続関係を明確定義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：レーンレベルの接続情報が欠如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37457" y="228991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路面特性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2220686" y="353199"/>
          <a:ext cx="8708571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/>
                <a:gridCol w="3701143"/>
                <a:gridCol w="2950028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摩擦係数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路面材質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surface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要素詳細記述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 surface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タグ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roughness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598715" y="2462657"/>
            <a:ext cx="90133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の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&lt;surface&gt;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要素は以下を含む：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摩擦係数（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friction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粗さ（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roughness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材質タイプ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は単純な</a:t>
            </a:r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surface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タグのみ（</a:t>
            </a:r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asphalt, concrete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等</a:t>
            </a:r>
            <a:r>
              <a:rPr lang="ja-JP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52400" y="0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拡張機能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2090057" y="91145"/>
          <a:ext cx="8577942" cy="960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7028"/>
                <a:gridCol w="4038600"/>
                <a:gridCol w="2732314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要素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userData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カスタム拡張データサポート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サポートなし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54428" y="1051265"/>
            <a:ext cx="12083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詳細説明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の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&lt;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userData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&gt;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はアプリ固有のカスタムデータ追加を許可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OSM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はタグで拡張可能だが、構造化カスタムデータサポートが欠如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52400" y="2357148"/>
            <a:ext cx="17588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応用シナリオ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9" name="表 8"/>
          <p:cNvGraphicFramePr>
            <a:graphicFrameLocks noGrp="1"/>
          </p:cNvGraphicFramePr>
          <p:nvPr/>
        </p:nvGraphicFramePr>
        <p:xfrm>
          <a:off x="838199" y="2926197"/>
          <a:ext cx="10515600" cy="3360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応用シナリオ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OpenStreetMap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自動運転シミュレーション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◎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非常に適している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多量の補完が必要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運転シミュレーター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◎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非常に適している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✗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不適切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ナビゲーションアプリ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使用可能だが重い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◎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非常に適している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経路計画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適している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◎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非常に適している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地図表示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△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使用可能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◎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非常に適している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交通分析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◎ 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非常に適している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〇 適している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19742" y="120134"/>
            <a:ext cx="18405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まとめ対比表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219075" y="668632"/>
          <a:ext cx="11753850" cy="3840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5564"/>
                <a:gridCol w="4944836"/>
                <a:gridCol w="4743450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カテゴリ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OpenDrive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の優位性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OSM</a:t>
                      </a: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の優位性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精度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高精度幾何、シミュレーションに適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グローバルカバレッジ、コミュニティ保守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レーン情報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詳細なレーンレベルデータ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簡潔で使いやすい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情報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完全な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サポート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軽量な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2D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交通施設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詳細なオブジェクト記述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豊富な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POI</a:t>
                      </a: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データ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拡張性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構造化拡張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柔軟なタグシステム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データ取得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専門的制作が必要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無料オープン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更新頻度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遅い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リアルタイム更新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119742" y="4845707"/>
            <a:ext cx="11517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結論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OpenDrive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は高精度シミュレーションと専門アプリに適しており、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OpenStreetMap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は</a:t>
            </a:r>
            <a:endParaRPr lang="en-US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en-US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　　　　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汎用地図サービスとナビゲーションに適している。両者は補完的に使用でき、変換ツール</a:t>
            </a:r>
            <a:endParaRPr lang="en-US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en-US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　　　　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rPr>
              <a:t>でそれぞれの優位性を組み合わせることが可能。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0" y="0"/>
          <a:ext cx="12192000" cy="6882130"/>
        </p:xfrm>
        <a:graphic>
          <a:graphicData uri="http://schemas.openxmlformats.org/drawingml/2006/table">
            <a:tbl>
              <a:tblPr/>
              <a:tblGrid>
                <a:gridCol w="2463155"/>
                <a:gridCol w="2463155"/>
                <a:gridCol w="1113990"/>
                <a:gridCol w="1205230"/>
                <a:gridCol w="1913943"/>
                <a:gridCol w="1584342"/>
                <a:gridCol w="1448186"/>
              </a:tblGrid>
              <a:tr h="300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コンテンツ項目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OpenDrive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の規定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OSM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の規定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kawasaki.xodr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 (SUMO)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dgm_kawasaki.xodr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 (DGM)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衛星画像などからの補正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2227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道路幾何</a:t>
                      </a:r>
                      <a:endParaRPr lang="ja-JP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道路基準線（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Reference line / center line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曲率（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line / arc / clothoid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cs typeface="+mn-ea"/>
                          <a:sym typeface="+mn-ea"/>
                        </a:rPr>
                        <a:t>-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cs typeface="+mn-ea"/>
                          <a:sym typeface="+mn-ea"/>
                        </a:rPr>
                        <a:t>-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道路長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標高（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elevation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横断勾配（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superelevation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-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横断形状（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lateral profile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レーン構造</a:t>
                      </a:r>
                      <a:endParaRPr lang="ja-JP" altLang="en-US" sz="16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レーン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ID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レーン幅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5908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レーンタイプ（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driving / shoulder / sidewalk 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等）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レーン接続関係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21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レーン速度制限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レーンアクセス制限（</a:t>
                      </a: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bus lane</a:t>
                      </a: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など）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△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区画線</a:t>
                      </a:r>
                      <a:endParaRPr lang="ja-JP" altLang="en-US" sz="16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実線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 </a:t>
                      </a: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/ 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破線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色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69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幅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車線変更可否</a:t>
                      </a:r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パターン（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dash length / gap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複合線（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double solid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等）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交通標識・信号</a:t>
                      </a:r>
                      <a:endParaRPr lang="ja-JP" altLang="en-US" sz="16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信号機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一時停止標識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△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制限速度標識</a:t>
                      </a:r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△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進入禁止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車線別制限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警告標識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△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道路オブジェクト</a:t>
                      </a:r>
                      <a:endParaRPr lang="ja-JP" altLang="en-US" sz="16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停止線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横断歩道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路面ペイント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ガードレール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ポール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路肩縁石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△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建物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駐車スペース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バリア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△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トンネル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橋</a:t>
                      </a: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交差点構造</a:t>
                      </a:r>
                      <a:endParaRPr lang="ja-JP" altLang="en-US" sz="16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接続道路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　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　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turning relation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　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　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lane connection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　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　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路面特性</a:t>
                      </a:r>
                      <a:endParaRPr lang="ja-JP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摩擦係数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路面材質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+mn-ea"/>
                        </a:rPr>
                        <a:t>〇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47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roughness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72000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〇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  <a:sym typeface="+mn-ea"/>
                        </a:rPr>
                        <a:t>-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50" charset="-128"/>
                      </a:endParaRPr>
                    </a:p>
                  </a:txBody>
                  <a:tcPr marL="3763" marR="3763" marT="3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道路中心線データ（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road centerline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）から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車両走行を前提としたレーンレベルデータ（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lane-level map / lane geometry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）を生成する技術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は、主に以下の分野で特許が多数存在します。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マップ生成（自動運転用地図）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車両走行軌跡からのレーン推定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中心線・リンク構造からのレーン展開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センサデータ＋地図融合によるレーン生成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0" y="2287519"/>
            <a:ext cx="696056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1.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車両走行軌跡からレーン中心線を生成する特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例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)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Woven by Toyota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「基準軌跡生成装置、基準軌跡生成方法」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車両の走行ログ（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trajectory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）を大量に収集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走行軌跡をクラスタリング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最も多いクラスタの平均を「基準走行軌跡」にする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その軌跡を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レーン中心線として利用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特許の特徴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crowd-sourced trajectory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clustering → average trajectory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 estimation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145617" y="2009415"/>
            <a:ext cx="4033476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重要ポイント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trajectory cluster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  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dominant cluster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  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average trajectory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  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この方式は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Waymo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Tesla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Mobileye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なども類似技術を持っています。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7162538" cy="52629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2. HD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マップのレーン中心線を用いた自動運転経路生成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US11454973B2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Mapped driving paths for autonomous vehicle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マップから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レーン境界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カーブ情報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を取得して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車両の走行軌跡を生成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する。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特徴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スプラインやポリラインでレーンを表現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道路特徴（縁石・標識等）と統合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車両走行履歴を利用して精度改善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754586" y="4721546"/>
            <a:ext cx="463460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つまり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road features+ vehicle traversals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→ driving path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→ lane-level representation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という構造。 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5285421" cy="52629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3. SD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マップ中心線＋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レーンの統合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US20230204374A1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ナビゲーション用の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SD map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（道路リンク）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 map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（レーン中心線）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を組み合わせて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車両が走行可能なレーン経路を生成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特徴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レーン優先経路生成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最小レーン変更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障害物回避軌跡生成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17072" y="5262979"/>
            <a:ext cx="452399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つまり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SD map route+ lane centerlines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→ lane-level trajectory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という構造です。 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02493" y="0"/>
            <a:ext cx="6104556" cy="6740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4.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地図ノード・リンクから基準線を生成する特許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Nissan Motor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「道路基準線生成方法及び装置」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地図データの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ノード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リンク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を取得し</a:t>
            </a:r>
            <a:r>
              <a:rPr lang="ja-JP" altLang="en-US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、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車両の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現在位置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進行方向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を使って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道路基準線（中心線）を補正・生成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する。 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この技術は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2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map node-link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→ road centerline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→ vehicle heading correction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という構造。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7112845" cy="5632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5.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センサ（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LiDAR / MMS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）からレーンレベルマップ生成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これは特許というより論文・技術群ですが、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多くの企業特許の基礎技術です。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方法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LiDAR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点群取得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路面マーキング抽出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クラスタリング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曲線フィッティング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結果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2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boundary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lane-level map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マップ生成の典型手法です。 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751344"/>
            <a:ext cx="6766596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6.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道路中心線からレーンを展開する典型アルゴリズム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特許では以下のパターンが多いです。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(A)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幅オフセット方式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+ 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道路幅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+ 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車線数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lane_offset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=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road_width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/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lane_count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lane_i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= centerline ± n *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lane_offset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5690" y="3545452"/>
            <a:ext cx="2914580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(B)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トポロジー展開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中心線ネットワーク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node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link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direction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turn restriction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→ lane graph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372402" y="3429000"/>
            <a:ext cx="2973891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(C)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走行履歴補正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初期レーン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centerline offset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vehicle trajectories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correction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853683" y="751344"/>
            <a:ext cx="4865434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7.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この分野で特許を多く持つ企業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特許検索すると特に多い企業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Toyota Motor Corporation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Waymo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Nissan Motor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Mobileye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Baidu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Huawei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主なテーマ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lane-level HD map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trajectory-based lane extraction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crowdsourced mapping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centerline-to-lane conversion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566057" y="97971"/>
            <a:ext cx="10602686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ja-JP" altLang="ja-JP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「道路中心線データを用いて車両走行を前提としたレーンレベルデータを生成する技術」に関連する主要特許</a:t>
            </a:r>
            <a:endParaRPr lang="ja-JP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7086" y="1052078"/>
            <a:ext cx="8001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1.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中心線・レーンネットワーク生成系（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 Map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系）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中心線やセンサデータから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レーンネットワーク（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graph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）を生成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する特許。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① Lane network construction using HD maps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US10545029B2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出願：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2017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657350" lvl="3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レーン要素をグラフ構造として生成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657350" lvl="3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レーン中心線・接続関係をネットワーク化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657350" lvl="3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自動運転用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マップに使用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技術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657350" lvl="3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element graph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657350" lvl="3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connectivity generation</a:t>
            </a:r>
            <a:endParaRPr lang="en-US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657350" lvl="3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 map topology</a:t>
            </a:r>
            <a:endParaRPr lang="ja-JP" alt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909111" y="2107784"/>
            <a:ext cx="528288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② Lane line creation for HD maps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US10859395B2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出願：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2016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カメラ画像・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LiDAR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からレーンライン抽出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レーンラインを接続してレーン構造生成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技術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line detection</a:t>
            </a:r>
            <a:endParaRPr lang="en-US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graph generation</a:t>
            </a:r>
            <a:endParaRPr lang="ja-JP" alt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5173211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③ Lane line creation for HD maps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US20210172756A1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上記の関連出願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技術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画像ピクセル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→ 3D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レーンライン</a:t>
            </a:r>
            <a:endParaRPr lang="en-US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00150" lvl="2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レーンネットワーク生成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005861" y="0"/>
            <a:ext cx="61052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④ Sign and lane creation for HD maps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WO2018126228A1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特徴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標識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+ 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レーンを統合した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レーン要素グラフ構築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0" y="2469985"/>
            <a:ext cx="63227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2. GPS /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車両軌跡からレーン中心線生成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車両ログを用いて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中心線・レーン中心線を生成する特許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⑤ Map generation using GPS tracks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US8359156B2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大量の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GPS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トラックを収集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統計処理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スプライン曲線でレーン中心線生成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908180" y="3395515"/>
            <a:ext cx="3094117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特徴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GPS trajectory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statistical clustering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spline fitting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677091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3.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道路中心線からレーン中心線生成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SD map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（道路リンク）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→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レーン生成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に近い特許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⑥ Lane centerline generation from corrected road centerline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CN112347210B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道路中心線を補正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曲率・方位計算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誤差点除去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つまり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2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road centerline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geometry correction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 generation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770914" y="12680"/>
            <a:ext cx="54210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4.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道路ネットワーク生成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レーンではなく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道路中心線生成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だが、レーン展開の基礎技術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⑦ Road network generation method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EP0738875B1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NTT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道路境界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→ 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中心線抽出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中心線から道路ネットワーク生成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770914" y="3852059"/>
            <a:ext cx="5374420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5.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レーン精度評価・補正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生成したレーンを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地図と比較して補正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⑧ Map lane accuracy measurement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US20210304433A1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概要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センサレーンと地図レーン比較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曲率差分計算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98232" y="0"/>
            <a:ext cx="6359433" cy="5632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6.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実務上よく出てくる企業特許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以下の企業がこの分野で多数出願しています。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自動車メーカー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Toyota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Nissan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Honda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GM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自動運転企業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Waymo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Baidu Apollo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Mobileye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地図企業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HERE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TomTom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Denso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335486" y="12680"/>
            <a:ext cx="58565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7.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特許技術パターン（整理）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この分野の特許は、ほぼ次の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4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アルゴリズム系統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(A)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中心線オフセット方式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道路中心線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→ 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レーン展開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lane_i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= centerline ± n * </a:t>
            </a: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lane_width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用途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ナビゲーション地図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SD map → lane map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743701" y="3441680"/>
            <a:ext cx="3847528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(B)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走行軌跡クラスタリング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vehicle trajectories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cluster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用途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crowdsourced HD map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63286" y="94681"/>
            <a:ext cx="3563796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(C)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センサベース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camera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LiDAR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marking extraction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geometry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0371" y="3030809"/>
            <a:ext cx="2941831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(D)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トポロジー生成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connectivity graph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↓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network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312228" y="308206"/>
            <a:ext cx="658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8.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「道路中心線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→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レーン生成」に最も近い特許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特に関連度が高いもの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/>
        </p:nvGraphicFramePr>
        <p:xfrm>
          <a:off x="6096000" y="1139203"/>
          <a:ext cx="5181600" cy="20564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28257"/>
                <a:gridCol w="2253343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特許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関連度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CN112347210B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★★★★★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US8359156B2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★★★★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US10545029B2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★★★★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US10859395B2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Meiryo UI" panose="020B0604030504040204" pitchFamily="50" charset="-128"/>
                          <a:cs typeface="Times New Roman" panose="02020603050405020304" pitchFamily="18" charset="0"/>
                        </a:rPr>
                        <a:t>★★★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1. US9384394B2 – Method for generating accurate lane-level maps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</a:t>
            </a: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Toyota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内容：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Mincho" panose="02020400000000000000" pitchFamily="18" charset="-128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粗地図（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course map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）＋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LiDAR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を用いて、レーン中心線・レーン数などを自動生成する方法。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URL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https://patents.google.com/patent/US9384394B2/en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u="sng" kern="100" dirty="0">
                <a:solidFill>
                  <a:srgbClr val="4678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  <a:hlinkClick r:id="rId1"/>
              </a:rPr>
              <a:t>[patents.google.com]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-2" y="1241077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2. US11808581 – Lane-level map matching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</a:t>
            </a: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Zenuity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内容：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Mincho" panose="02020400000000000000" pitchFamily="18" charset="-128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車両位置＋センサ認識＋レーン幾何データを使うレーンレベルマップマッチング技術。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URL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https://patents.justia.com/patent/11808581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u="sng" kern="100" dirty="0">
                <a:solidFill>
                  <a:srgbClr val="4678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  <a:hlinkClick r:id="rId2"/>
              </a:rPr>
              <a:t>[patents.justia.com]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" y="2499202"/>
            <a:ext cx="12191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3. US20200265245A1 – Automatic generation of lane centerline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</a:t>
            </a: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SF Motors / Chongqing </a:t>
            </a:r>
            <a:r>
              <a:rPr lang="en-US" altLang="ja-JP" sz="20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Jinkang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内容：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Mincho" panose="02020400000000000000" pitchFamily="18" charset="-128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道路中心線などからレーン中心線を自動生成する方式（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confidence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値・スムージング）。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URL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https://patents.google.com/patent/US20200265245A1/en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u="sng" kern="100" dirty="0">
                <a:solidFill>
                  <a:srgbClr val="4678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  <a:hlinkClick r:id="rId3"/>
              </a:rPr>
              <a:t>[patents.google.com]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" y="3740279"/>
            <a:ext cx="121919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4. CN110633342B – Lane topology network generation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</a:t>
            </a:r>
            <a:r>
              <a:rPr lang="en-US" altLang="ja-JP" sz="20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Wuhan </a:t>
            </a:r>
            <a:r>
              <a:rPr lang="en-US" altLang="ja-JP" sz="2000" b="1" kern="1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Kotei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内容：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Mincho" panose="02020400000000000000" pitchFamily="18" charset="-128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レーンノード・中心線・ポイントから、レーントポロジーネットワークを生成。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URL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https://patents.google.com/patent/CN110633342B/en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u="sng" kern="100" dirty="0">
                <a:solidFill>
                  <a:srgbClr val="4678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  <a:hlinkClick r:id="rId4"/>
              </a:rPr>
              <a:t>[patents.google.com]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-2" y="5172576"/>
            <a:ext cx="121919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5. US9170116B1 – Method for generating accurate lane-level maps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</a:t>
            </a: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Toyota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内容：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Mincho" panose="02020400000000000000" pitchFamily="18" charset="-128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道路データからレーン位置、接続構造などを生成する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マップ技術。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URL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https://patents.google.com/patent/US9170116B1/en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u="sng" kern="100" dirty="0">
                <a:solidFill>
                  <a:srgbClr val="4678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  <a:hlinkClick r:id="rId5"/>
              </a:rPr>
              <a:t>[patents.google.com]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119743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6. US11654918B2 – Estimation of road centerline based on vehicle telemetry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</a:t>
            </a: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GM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内容：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Mincho" panose="02020400000000000000" pitchFamily="18" charset="-128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多数の車両の走行データ（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heading </a:t>
            </a:r>
            <a:r>
              <a:rPr lang="ja-JP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等）をクラスタリングし、道路中心線を推定。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URL</a:t>
            </a:r>
            <a:r>
              <a:rPr lang="ja-JP" altLang="ja-JP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：</a:t>
            </a:r>
            <a: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https://patents.google.com/patent/US11654918B2/en</a:t>
            </a:r>
            <a:br>
              <a:rPr lang="en-US" altLang="ja-JP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000" u="sng" kern="100" dirty="0">
                <a:solidFill>
                  <a:srgbClr val="4678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  <a:hlinkClick r:id="rId1"/>
              </a:rPr>
              <a:t>[patents.google.com]</a:t>
            </a:r>
            <a:endParaRPr lang="ja-JP" altLang="ja-JP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　</a:t>
            </a:r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AD/ADAS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における</a:t>
            </a:r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レーン中心線（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 centerline</a:t>
            </a:r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）の役割は、この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10</a:t>
            </a:r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年でかなり変化してい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る</a:t>
            </a:r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。従来はセンシングの不確実性を補うためのリファレンス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という意味合いが強く、</a:t>
            </a:r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OEM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側も「地図ベースで車両を制御する」という思想は基本的に避け、</a:t>
            </a:r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自車センシング＋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SLAM</a:t>
            </a:r>
            <a:r>
              <a:rPr lang="ja-JP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を主系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にしてきた</a:t>
            </a:r>
            <a:r>
              <a:rPr lang="ja-JP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。</a:t>
            </a:r>
            <a:endParaRPr lang="en-US" altLang="ja-JP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r>
              <a:rPr lang="ja-JP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　このような状況の中で</a:t>
            </a:r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DGM</a:t>
            </a:r>
            <a:r>
              <a:rPr lang="ja-JP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について考えたい。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06828" y="1465174"/>
            <a:ext cx="11532324" cy="52629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1.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従来の役割：センシング検証用リファレンス</a:t>
            </a:r>
            <a:r>
              <a:rPr lang="ja-JP" altLang="en-US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　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従来のレーン中心線の主用途は以下でした。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(1)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センシング整合性チェック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カメラ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/LiDAR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によるレーン検出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SLAM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で推定された道路形状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これらが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道路の幾何構造として妥当か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を確認するための参照。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レーン幅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曲率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レーン数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分岐形状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つまり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Map = Ground truth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候補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Perception =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実観測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という関係で</a:t>
            </a:r>
            <a:r>
              <a:rPr lang="ja-JP" altLang="en-US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あった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2.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現在：制御ではなく「意味付けレイヤー」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センシング精度向上（高解像度カメラ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/ LiDAR / 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高頻度推定）により、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幾何形状の取得はほぼセンシングで十分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になりつつあります。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その結果、レーン中心線の価値は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幾何情報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→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セマンティック情報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へシフトしています。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主な役割：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53985" y="2333685"/>
            <a:ext cx="5262979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(1)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道路トポロジー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センシングでは弱い領域。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分岐関係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接続関係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車線遷移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ID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merge / diverge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センシングは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今見えている線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しか理解できません。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地図は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道路ネットワーク構造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を持っています。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270626" y="2496971"/>
            <a:ext cx="493926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(2)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走行意図のコンテキスト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生成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AI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・行動計画で重要。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このレーンは左折専用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このレーンは高速入口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このレーンはバス専用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次の分岐まで距離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これは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+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属性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で表現されることが多いです。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0"/>
            <a:ext cx="3452420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(3)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長距離予測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センシングは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100m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程度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一方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 map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数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km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先の曲率を利用して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速度計画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energy optimization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comfort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制御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に使われます。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978729" y="0"/>
            <a:ext cx="6150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3.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近年の重要な変化（生成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AI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時代）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生成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AI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（特に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E2E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系）では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レーン中心線の役割はさらに変わっています。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結論から言うと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教師データ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/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プライヤー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103057"/>
            <a:ext cx="4868640" cy="6370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(1) Learning prior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End-to-End driving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入力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カメラ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LiDAR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出力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trajectory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という構造が増えています。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この時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GT trajectory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をどう定義するか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が問題になります。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そこで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が使われます。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理由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人間の運転はレーン中心に近い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</a:rPr>
              <a:t>trajectory</a:t>
            </a:r>
            <a:r>
              <a:rPr lang="ja-JP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教師が作りやすい</a:t>
            </a:r>
            <a:endParaRPr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096000" y="103057"/>
            <a:ext cx="5007140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(2) Occupancy / Vector map learning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最近の主流：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VectorNet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LaneGCN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HDMapNet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UniAD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BEVFormer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これらは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レーンをベクトル要素として扱う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ため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道路構造グラフ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になります。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76200" y="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4.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センシングが高精度になった後の本質的役割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まとめると現在の位置づけは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468086" y="830997"/>
          <a:ext cx="3429000" cy="2467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3228"/>
                <a:gridCol w="1545772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役割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重要度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幾何参照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低下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トポロジー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高い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意味情報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高い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行動計画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高い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kern="1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学習教師</a:t>
                      </a:r>
                      <a:endParaRPr lang="ja-JP" sz="2400" kern="1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400" kern="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高い</a:t>
                      </a:r>
                      <a:endParaRPr lang="ja-JP" sz="240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eiryo UI" panose="020B0604030504040204" pitchFamily="50" charset="-128"/>
                        <a:ea typeface="Meiryo UI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02079" y="3559294"/>
            <a:ext cx="321998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つまり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Geometry → Structure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へ役割が変わ</a:t>
            </a:r>
            <a:r>
              <a:rPr lang="ja-JP" altLang="en-US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っ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た。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080851" y="0"/>
            <a:ext cx="3610284" cy="6370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5.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今後（業界トレンド）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今、研究・産業の主流は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Mapless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ではなく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24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Map-lite</a:t>
            </a:r>
            <a:endParaRPr lang="ja-JP" altLang="ja-JP" sz="24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完全</a:t>
            </a: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HD map</a:t>
            </a: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依存ではなく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Online map + prior map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という構造。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典型例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Tesla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Waymo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Momenta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Huawei ADS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Mobileye REM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共通思想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Perception → local lane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Map → global topology</a:t>
            </a:r>
            <a:b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</a:br>
            <a:r>
              <a:rPr lang="en-US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Planning → fused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97971" y="121814"/>
            <a:ext cx="6373861" cy="60016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6.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非常に重要なポイント（</a:t>
            </a: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OEM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の最近の議論）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実は現在議論されているのは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レーン中心線そのものが必要か？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理由：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車は中心を走らない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バス回避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二輪回避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工事回避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最近は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Drivable corridor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という概念が増えています。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つまり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中心線ではなく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走行可能空間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471832" y="220453"/>
            <a:ext cx="5137945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7. </a:t>
            </a:r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まとめ（技術的に一番重要な理解）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レーン中心線の役割は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昔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センシング補正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現在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道路構造グラフ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未来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行動計画のコンテキスト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lvl="1"/>
            <a:r>
              <a:rPr lang="ja-JP" altLang="ja-JP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です。</a:t>
            </a:r>
            <a:endParaRPr lang="ja-JP" altLang="ja-JP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Mincho" panose="02020400000000000000" pitchFamily="18" charset="-128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/>
        </p:nvCxnSpPr>
        <p:spPr>
          <a:xfrm>
            <a:off x="2939143" y="4071257"/>
            <a:ext cx="0" cy="218802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/>
          <p:cNvCxnSpPr/>
          <p:nvPr/>
        </p:nvCxnSpPr>
        <p:spPr>
          <a:xfrm>
            <a:off x="3624943" y="642257"/>
            <a:ext cx="0" cy="561702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/>
          <p:cNvCxnSpPr/>
          <p:nvPr/>
        </p:nvCxnSpPr>
        <p:spPr>
          <a:xfrm>
            <a:off x="4354286" y="391886"/>
            <a:ext cx="0" cy="586740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5083629" y="283029"/>
            <a:ext cx="0" cy="5976257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 flipH="1">
            <a:off x="2939143" y="1230086"/>
            <a:ext cx="685800" cy="284117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吹き出し: 角を丸めた四角形 12"/>
          <p:cNvSpPr/>
          <p:nvPr/>
        </p:nvSpPr>
        <p:spPr>
          <a:xfrm>
            <a:off x="152401" y="3113314"/>
            <a:ext cx="2242454" cy="1317172"/>
          </a:xfrm>
          <a:prstGeom prst="wedgeRoundRectCallout">
            <a:avLst>
              <a:gd name="adj1" fmla="val 86074"/>
              <a:gd name="adj2" fmla="val 10051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レーンがなくなる情報が重要では？</a:t>
            </a:r>
            <a:endParaRPr kumimoji="1" lang="ja-JP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" name="直線コネクタ 13"/>
          <p:cNvCxnSpPr/>
          <p:nvPr/>
        </p:nvCxnSpPr>
        <p:spPr>
          <a:xfrm>
            <a:off x="4354285" y="283029"/>
            <a:ext cx="0" cy="45665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吹き出し: 角を丸めた四角形 15"/>
          <p:cNvSpPr/>
          <p:nvPr/>
        </p:nvSpPr>
        <p:spPr>
          <a:xfrm>
            <a:off x="5987145" y="457200"/>
            <a:ext cx="2242454" cy="1317172"/>
          </a:xfrm>
          <a:prstGeom prst="wedgeRoundRectCallout">
            <a:avLst>
              <a:gd name="adj1" fmla="val -123150"/>
              <a:gd name="adj2" fmla="val 7654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車線変更禁止区間が重要</a:t>
            </a:r>
            <a:endParaRPr kumimoji="1" lang="ja-JP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4125686" y="174171"/>
            <a:ext cx="0" cy="635725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10852</Words>
  <Application>WPS 演示</Application>
  <PresentationFormat>ワイド画面</PresentationFormat>
  <Paragraphs>1528</Paragraphs>
  <Slides>32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3" baseType="lpstr">
      <vt:lpstr>Arial</vt:lpstr>
      <vt:lpstr>宋体</vt:lpstr>
      <vt:lpstr>Wingdings</vt:lpstr>
      <vt:lpstr>HarmonyOS Sans SC Medium</vt:lpstr>
      <vt:lpstr>Times New Roman</vt:lpstr>
      <vt:lpstr>Meiryo UI</vt:lpstr>
      <vt:lpstr>Symbol</vt:lpstr>
      <vt:lpstr>Courier New</vt:lpstr>
      <vt:lpstr>DengXian</vt:lpstr>
      <vt:lpstr>Microsoft YaHei</vt:lpstr>
      <vt:lpstr>Arial Unicode MS</vt:lpstr>
      <vt:lpstr>Yu Gothic Light</vt:lpstr>
      <vt:lpstr>Yu Gothic</vt:lpstr>
      <vt:lpstr>MS PGothic</vt:lpstr>
      <vt:lpstr>Yu Mincho</vt:lpstr>
      <vt:lpstr>Calibri</vt:lpstr>
      <vt:lpstr>HarmonyOS Sans SC Medium</vt:lpstr>
      <vt:lpstr>Symbol</vt:lpstr>
      <vt:lpstr>Wingdings</vt:lpstr>
      <vt:lpstr>Segoe Print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角田 政一</dc:creator>
  <cp:lastModifiedBy>钱钱</cp:lastModifiedBy>
  <cp:revision>9</cp:revision>
  <dcterms:created xsi:type="dcterms:W3CDTF">2026-03-16T01:54:00Z</dcterms:created>
  <dcterms:modified xsi:type="dcterms:W3CDTF">2026-03-17T08:52:28Z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397DA8C1D2B74038907E7875BAA15BB6_12</vt:lpwstr>
  </property>
</Properties>
</file>